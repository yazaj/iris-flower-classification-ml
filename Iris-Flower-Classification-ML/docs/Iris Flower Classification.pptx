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layfair Display"/>
      <p:regular r:id="rId20"/>
      <p:bold r:id="rId21"/>
      <p:italic r:id="rId22"/>
      <p:boldItalic r:id="rId23"/>
    </p:embeddedFont>
    <p:embeddedFont>
      <p:font typeface="Urbanist SemiBold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A16723-E608-465E-A616-4A7A2D08C5BF}">
  <a:tblStyle styleId="{B5A16723-E608-465E-A616-4A7A2D08C5B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regular.fntdata"/><Relationship Id="rId22" Type="http://schemas.openxmlformats.org/officeDocument/2006/relationships/font" Target="fonts/PlayfairDisplay-italic.fntdata"/><Relationship Id="rId21" Type="http://schemas.openxmlformats.org/officeDocument/2006/relationships/font" Target="fonts/PlayfairDisplay-bold.fntdata"/><Relationship Id="rId24" Type="http://schemas.openxmlformats.org/officeDocument/2006/relationships/font" Target="fonts/UrbanistSemiBold-regular.fntdata"/><Relationship Id="rId23" Type="http://schemas.openxmlformats.org/officeDocument/2006/relationships/font" Target="fonts/PlayfairDispl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SemiBold-italic.fntdata"/><Relationship Id="rId25" Type="http://schemas.openxmlformats.org/officeDocument/2006/relationships/font" Target="fonts/UrbanistSemiBold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250" y="4644330"/>
            <a:ext cx="2857500" cy="4743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0" y="173935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365408" y="2596604"/>
            <a:ext cx="9461182" cy="859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5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Iris Flower Classification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33587" y="3741390"/>
            <a:ext cx="812482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Machine Learning Study using Random Forest Ensemble Algorithms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667250" y="4844355"/>
            <a:ext cx="2857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 SCIENCE PORTFOLIO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619750" y="2785169"/>
            <a:ext cx="952500" cy="3810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250644" y="3109019"/>
            <a:ext cx="5690711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Overview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3305175" y="4023419"/>
            <a:ext cx="55816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Introduction to the world's most famous classification dataset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77665"/>
            <a:ext cx="3492549" cy="33408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77665"/>
            <a:ext cx="3492549" cy="33408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77665"/>
            <a:ext cx="3492549" cy="334089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07C4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Iris Dataset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8150" y="2668190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894237" y="3382565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150 Samples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62025" y="3887390"/>
            <a:ext cx="271149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balanced dataset featuring 50 observations for each of the three Iris flower species.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66819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4672537" y="3382565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4 Features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740324" y="3887390"/>
            <a:ext cx="271149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Dimensional metrics including Sepal Length, Sepal Width, Petal Length, and Petal Width.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6174" y="266819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450836" y="3382565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3 Classes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518624" y="3887390"/>
            <a:ext cx="271149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Target species classification: Iris-Setosa, Iris-Versicolor, and Iris-Virginica.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4262"/>
            <a:ext cx="11049000" cy="39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07C4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Exploratory Data Analysis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2762547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Feature Correlation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3267372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scatter plot reveals clear clusters within the data. Petal dimensions provide the strongest separation between species.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4463355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Setosa: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Highly distinct cluster.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4798516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Versicolor: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Partial overlap with Virginica.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1574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850903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02433"/>
            <a:ext cx="5381625" cy="22913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802433"/>
            <a:ext cx="5381625" cy="229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07C4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Random Forest Approach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62025" y="3192958"/>
            <a:ext cx="483060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7C4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Ensemble Learning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62025" y="3697783"/>
            <a:ext cx="46005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By constructing multiple decision trees during training, the model achieves higher robustness than a single tree.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629400" y="3192958"/>
            <a:ext cx="483060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7C4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Bagging Method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629400" y="3697783"/>
            <a:ext cx="46005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Uses Bootstrap Aggregation to reduce variance and prevent overfitting, leading to superior generalization.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63055"/>
            <a:ext cx="5238750" cy="377011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07C4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Implementation Workflow</a:t>
            </a:r>
            <a:endParaRPr/>
          </a:p>
        </p:txBody>
      </p:sp>
      <p:pic>
        <p:nvPicPr>
          <p:cNvPr descr="image.png" id="148" name="Google Shape;14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72580"/>
            <a:ext cx="5219700" cy="375106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6381750" y="2489299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01. Preprocessing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Handling missing values and encoding species labels into numerical targets.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381750" y="3780532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02. Train-Test Split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Utilizing a 70/30 split to validate the model on unseen data samples.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381750" y="4736603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03. Model Fitting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Iterative training of the Random Forest using various estimator counts.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/>
          <p:nvPr/>
        </p:nvSpPr>
        <p:spPr>
          <a:xfrm>
            <a:off x="5619750" y="2785169"/>
            <a:ext cx="952500" cy="3810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2075497" y="3109019"/>
            <a:ext cx="804100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Performance Evaluation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4005262" y="4023419"/>
            <a:ext cx="41814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Measuring the success of our predictive model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7203"/>
            <a:ext cx="11049000" cy="31218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07184"/>
            <a:ext cx="5238750" cy="154275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07C4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Optimization: Accuracy vs. Trees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571500" y="2446287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Finding the Sweet Spot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571500" y="2951112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Experimental analysis shows that accuracy improves drastically as we increase the number of trees up to 50.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809625" y="4145309"/>
            <a:ext cx="4762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Optimal Result: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809625" y="4480470"/>
            <a:ext cx="47625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7C41"/>
                </a:solidFill>
                <a:latin typeface="Urbanist"/>
                <a:ea typeface="Urbanist"/>
                <a:cs typeface="Urbanist"/>
                <a:sym typeface="Urbanist"/>
              </a:rPr>
              <a:t>97.8% Accuracy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809625" y="4968031"/>
            <a:ext cx="47625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Achieved at 50 Estimators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762000" y="762000"/>
            <a:ext cx="48006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07C4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Confusion Matrix</a:t>
            </a:r>
            <a:endParaRPr/>
          </a:p>
        </p:txBody>
      </p:sp>
      <p:pic>
        <p:nvPicPr>
          <p:cNvPr descr="image.png" id="179" name="Google Shape;17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19621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/>
          <p:nvPr/>
        </p:nvSpPr>
        <p:spPr>
          <a:xfrm>
            <a:off x="762000" y="2632174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deep dive into the classification errors reveals the model's high precision.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762000" y="3492996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Key Findings: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914400" y="3924359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952500" y="3923407"/>
            <a:ext cx="438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Zero errors for Setosa.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914400" y="4259520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952500" y="4258567"/>
            <a:ext cx="438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Minor confusion between Virginica and Versicolor.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914400" y="4929842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952500" y="4928889"/>
            <a:ext cx="438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Overall F1-Score exceeds 0.97.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07C4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Classification Metrics</a:t>
            </a:r>
            <a:endParaRPr/>
          </a:p>
        </p:txBody>
      </p:sp>
      <p:graphicFrame>
        <p:nvGraphicFramePr>
          <p:cNvPr id="194" name="Google Shape;194;p22"/>
          <p:cNvGraphicFramePr/>
          <p:nvPr/>
        </p:nvGraphicFramePr>
        <p:xfrm>
          <a:off x="571500" y="26574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{B5A16723-E608-465E-A616-4A7A2D08C5BF}</a:tableStyleId>
              </a:tblPr>
              <a:tblGrid>
                <a:gridCol w="2859425"/>
                <a:gridCol w="2199525"/>
                <a:gridCol w="1759600"/>
                <a:gridCol w="2148775"/>
                <a:gridCol w="2081650"/>
              </a:tblGrid>
              <a:tr h="64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7C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Species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7C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Precision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7C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Recall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7C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F1-Score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7C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4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Iris-Setosa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Iris-Versicolor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Iris-Virginica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22"/>
          <p:cNvSpPr/>
          <p:nvPr/>
        </p:nvSpPr>
        <p:spPr>
          <a:xfrm>
            <a:off x="571500" y="3352800"/>
            <a:ext cx="2859434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3430934" y="3352800"/>
            <a:ext cx="219953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5630465" y="3352800"/>
            <a:ext cx="1759594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7390060" y="3352800"/>
            <a:ext cx="214878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9538841" y="3352800"/>
            <a:ext cx="2081658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571500" y="3986212"/>
            <a:ext cx="28594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3430934" y="3986212"/>
            <a:ext cx="21995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5630465" y="3986212"/>
            <a:ext cx="1759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7390060" y="3986212"/>
            <a:ext cx="21487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9538841" y="3986212"/>
            <a:ext cx="20816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571500" y="4605337"/>
            <a:ext cx="28594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3430934" y="4605337"/>
            <a:ext cx="21995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5630465" y="4605337"/>
            <a:ext cx="1759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7390060" y="4605337"/>
            <a:ext cx="21487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9538841" y="4605337"/>
            <a:ext cx="20816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571500" y="5224462"/>
            <a:ext cx="28594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3430934" y="5224462"/>
            <a:ext cx="21995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5630465" y="5224462"/>
            <a:ext cx="1759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7390060" y="5224462"/>
            <a:ext cx="21487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9538841" y="5224462"/>
            <a:ext cx="20816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7862" y="1063228"/>
            <a:ext cx="67627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1595437" y="2206228"/>
            <a:ext cx="9001125" cy="2872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35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Machine learning is not just about prediction; it's about understanding the complex patterns hidden in nature's data.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1809750" y="5459610"/>
            <a:ext cx="8572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7C41"/>
                </a:solidFill>
                <a:latin typeface="Urbanist"/>
                <a:ea typeface="Urbanist"/>
                <a:cs typeface="Urbanist"/>
                <a:sym typeface="Urbanist"/>
              </a:rPr>
              <a:t>- FINAL PROJECT SUMMARY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295275" y="571500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07C4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Questions?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571500" y="180975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 to this classification study.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3690937" y="3188940"/>
            <a:ext cx="21050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analytics@university.edu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6272212" y="3188940"/>
            <a:ext cx="2228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portfolio.datascience.com</a:t>
            </a:r>
            <a:endParaRPr/>
          </a:p>
        </p:txBody>
      </p:sp>
      <p:pic>
        <p:nvPicPr>
          <p:cNvPr descr="image.png" id="232" name="Google Shape;23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0937" y="323656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2212" y="3236565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07C4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  <p:sp>
        <p:nvSpPr>
          <p:cNvPr id="240" name="Google Shape;240;p25"/>
          <p:cNvSpPr/>
          <p:nvPr/>
        </p:nvSpPr>
        <p:spPr>
          <a:xfrm>
            <a:off x="571500" y="228421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571500" y="306898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571500" y="3853755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571500" y="30594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571500" y="30594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571500" y="38442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571500" y="38442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71500" y="4827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71500" y="4827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9" name="Google Shape;24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36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 txBox="1"/>
          <p:nvPr/>
        </p:nvSpPr>
        <p:spPr>
          <a:xfrm>
            <a:off x="1666875" y="242708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https://media.geeksforgeeks.org/wp-content/uploads/20200330072328/photo-8.png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1666875" y="267280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www.geeksforgeeks.org</a:t>
            </a:r>
            <a:endParaRPr/>
          </a:p>
        </p:txBody>
      </p:sp>
      <p:pic>
        <p:nvPicPr>
          <p:cNvPr descr="image.png" id="252" name="Google Shape;25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1840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1666875" y="321185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https://towardsdatascience.com/wp-content/uploads/2022/02/1R6Rbcks-pGO0SkhCINrP0g.png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1666875" y="345757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towardsdatascience.com</a:t>
            </a:r>
            <a:endParaRPr/>
          </a:p>
        </p:txBody>
      </p:sp>
      <p:pic>
        <p:nvPicPr>
          <p:cNvPr descr="image.png" id="255" name="Google Shape;25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022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1666875" y="399663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https://substackcdn.com/image/fetch/$s_!Fd7I!,w_1200,h_675,c_fill,f_jpg,q_auto:good,fl_progressive:steep,g_auto/https%3A%2F%2Fsubstack-post-media.s3.amazonaws.com%2Fpublic%2Fimages%2F0f84ac96-10b3-4b6f-bf8a-51f34d5ffe96_3104x1784.png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1666875" y="444043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blog.dailydoseofds.com</a:t>
            </a:r>
            <a:endParaRPr/>
          </a:p>
        </p:txBody>
      </p:sp>
      <p:pic>
        <p:nvPicPr>
          <p:cNvPr descr="image.png" id="258" name="Google Shape;25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8603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1666875" y="497949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https://i.sstatic.net/vbpuJ.png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1666875" y="522520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stackoverflow.com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