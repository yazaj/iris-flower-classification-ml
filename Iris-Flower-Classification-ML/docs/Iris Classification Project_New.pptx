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Urbanist Light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A075BC-29DA-4406-AEC8-262E3A5B4592}">
  <a:tblStyle styleId="{68A075BC-29DA-4406-AEC8-262E3A5B45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UrbanistLight-bold.fntdata"/><Relationship Id="rId23" Type="http://schemas.openxmlformats.org/officeDocument/2006/relationships/font" Target="fonts/Urbanist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Light-boldItalic.fntdata"/><Relationship Id="rId25" Type="http://schemas.openxmlformats.org/officeDocument/2006/relationships/font" Target="fonts/UrbanistLight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71612" y="2066925"/>
            <a:ext cx="92487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7C4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MACHINE LEARNING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240393" y="2657475"/>
            <a:ext cx="9711213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5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Iris Species Classification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471612" y="3971925"/>
            <a:ext cx="92487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An Ensemble Approach using Random Forest Models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471612" y="4848225"/>
            <a:ext cx="92487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By Yazid • Documentation v1.0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2619375"/>
            <a:ext cx="952500" cy="381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455670" y="2847975"/>
            <a:ext cx="528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Foundation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581400" y="3952875"/>
            <a:ext cx="5029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Exploration and Methodology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8350"/>
            <a:ext cx="3492549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38350"/>
            <a:ext cx="3492549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38350"/>
            <a:ext cx="3492549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62025" y="3076575"/>
            <a:ext cx="284707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150 Observations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3676650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Fisher's classic dataset featuring 50 samples from each of the three species of Iris flowers.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740324" y="3076575"/>
            <a:ext cx="2847074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 Morphological Features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740324" y="4086225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Quantifying Sepal and Petal dimensions (Length and Width) in centimeters for precise botanical identification.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518624" y="3076575"/>
            <a:ext cx="2847074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Multiclass Classification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518624" y="4086225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Targeting three species: </a:t>
            </a:r>
            <a:r>
              <a:rPr b="0" i="1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Iris-Setosa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0" i="1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Iris-Versicolor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and </a:t>
            </a:r>
            <a:r>
              <a:rPr b="0" i="1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Iris-Virginica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4574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4574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4574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Dataset Characteristics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571500"/>
            <a:ext cx="57150" cy="6096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58578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Dataset dimensions: (150 rows, 4 columns for features, 1 for target).</a:t>
            </a:r>
            <a:endParaRPr/>
          </a:p>
        </p:txBody>
      </p:sp>
      <p:graphicFrame>
        <p:nvGraphicFramePr>
          <p:cNvPr id="122" name="Google Shape;122;p16"/>
          <p:cNvGraphicFramePr/>
          <p:nvPr/>
        </p:nvGraphicFramePr>
        <p:xfrm>
          <a:off x="571500" y="1514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{68A075BC-29DA-4406-AEC8-262E3A5B4592}</a:tableStyleId>
              </a:tblPr>
              <a:tblGrid>
                <a:gridCol w="2212025"/>
                <a:gridCol w="2059025"/>
                <a:gridCol w="2223800"/>
                <a:gridCol w="2070950"/>
                <a:gridCol w="2483200"/>
              </a:tblGrid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Sepal Length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Sepal Width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Petal Length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Petal Width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Target Species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Setosa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4.7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Versicolor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6.3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3.3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Virginica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5.8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2.7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Virginica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4.9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Setosa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16"/>
          <p:cNvSpPr/>
          <p:nvPr/>
        </p:nvSpPr>
        <p:spPr>
          <a:xfrm>
            <a:off x="571500" y="2176462"/>
            <a:ext cx="22120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2783532" y="2176462"/>
            <a:ext cx="20590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842569" y="2176462"/>
            <a:ext cx="22237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7066359" y="2176462"/>
            <a:ext cx="207094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9137302" y="2176462"/>
            <a:ext cx="248319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71500" y="2852737"/>
            <a:ext cx="22120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783532" y="2852737"/>
            <a:ext cx="20590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4842569" y="2852737"/>
            <a:ext cx="22237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066359" y="2852737"/>
            <a:ext cx="207094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9137302" y="2852737"/>
            <a:ext cx="248319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3529012"/>
            <a:ext cx="22120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783532" y="3529012"/>
            <a:ext cx="20590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4842569" y="3529012"/>
            <a:ext cx="22237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7066359" y="3529012"/>
            <a:ext cx="207094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9137302" y="3529012"/>
            <a:ext cx="248319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1500" y="4205287"/>
            <a:ext cx="22120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2783532" y="4205287"/>
            <a:ext cx="20590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842569" y="4205287"/>
            <a:ext cx="22237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066359" y="4205287"/>
            <a:ext cx="207094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9137302" y="4205287"/>
            <a:ext cx="248319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71500" y="4881562"/>
            <a:ext cx="22120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2783532" y="4881562"/>
            <a:ext cx="20590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842569" y="4881562"/>
            <a:ext cx="22237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7066359" y="4881562"/>
            <a:ext cx="207094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9137302" y="4881562"/>
            <a:ext cx="248319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71500" y="5557837"/>
            <a:ext cx="22120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783532" y="5557837"/>
            <a:ext cx="20590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842569" y="5557837"/>
            <a:ext cx="22237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7066359" y="5557837"/>
            <a:ext cx="207094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9137302" y="5557837"/>
            <a:ext cx="248319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762000" y="523875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Raw Data Preview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71500" y="523875"/>
            <a:ext cx="57150" cy="6096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117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71500" y="2595562"/>
            <a:ext cx="55506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Visualizing Clusters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319563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Analyzing the relationship between Petal Length and Petal Width reveals distinct botanical groupings.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1876425"/>
            <a:ext cx="2124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914400" y="395763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52500" y="395763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Linear Separation: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Setosa is perfectly linearly separable from other species.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14400" y="452913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52500" y="452913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Feature Importance: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Petal dimensions offer higher discriminatory power than Sepal features.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Feature Distribution Analysis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571500"/>
            <a:ext cx="57150" cy="6096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6187" y="1876425"/>
            <a:ext cx="5162250" cy="3687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/>
          <p:nvPr/>
        </p:nvSpPr>
        <p:spPr>
          <a:xfrm>
            <a:off x="5619750" y="2619375"/>
            <a:ext cx="952500" cy="381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2310526" y="2847975"/>
            <a:ext cx="757094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Implementation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2490787" y="3952875"/>
            <a:ext cx="7210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Training Strategy and Validation Framework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8350"/>
            <a:ext cx="3492549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38350"/>
            <a:ext cx="3492549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38350"/>
            <a:ext cx="3492549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962025" y="3076575"/>
            <a:ext cx="284707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Ensemble Method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62025" y="3676650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Uses Bootstrap Aggregation to combine multiple decision trees for improved robustness.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740324" y="3076575"/>
            <a:ext cx="2847074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Constraint: Max Depth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4740324" y="4086225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Set to 2 to prevent overfitting and ensure the model generalizes well to new samples.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518624" y="3076575"/>
            <a:ext cx="284707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Reproducibility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518624" y="3676650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Random State set to 0 to ensure consistent results across different environment runs.</a:t>
            </a:r>
            <a:endParaRPr/>
          </a:p>
        </p:txBody>
      </p:sp>
      <p:pic>
        <p:nvPicPr>
          <p:cNvPr descr="image.png" id="193" name="Google Shape;19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4574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4574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4574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Random Forest Framework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71500" y="571500"/>
            <a:ext cx="57150" cy="6096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71500" y="2309812"/>
            <a:ext cx="11049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107C41"/>
                </a:solidFill>
                <a:latin typeface="Urbanist"/>
                <a:ea typeface="Urbanist"/>
                <a:cs typeface="Urbanist"/>
                <a:sym typeface="Urbanist"/>
              </a:rPr>
              <a:t>70/30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1500" y="3738562"/>
            <a:ext cx="116014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Validation Integrity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43386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implemented a 70% Training and 30% Testing split to rigorously validate model performance.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914400" y="481488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52500" y="4814887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Training Set: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105 total samples.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14400" y="510063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952500" y="5100637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Testing Set: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45 unseen samples.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Partitioning Strategy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571500"/>
            <a:ext cx="57150" cy="6096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117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571500" y="2719387"/>
            <a:ext cx="55506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Estimator Sensitivity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33194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Analyzing how the number of trees (n_estimators) impacts global model accuracy.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408146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model demonstrates stability and convergence as the estimator count increases beyond 50 trees, reaching its performance peak.</a:t>
            </a:r>
            <a:endParaRPr/>
          </a:p>
        </p:txBody>
      </p:sp>
      <p:pic>
        <p:nvPicPr>
          <p:cNvPr descr="image.png" id="221" name="Google Shape;2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1876425"/>
            <a:ext cx="5095875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Hyperparameter Optimization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571500"/>
            <a:ext cx="57150" cy="6096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p22"/>
          <p:cNvGraphicFramePr/>
          <p:nvPr/>
        </p:nvGraphicFramePr>
        <p:xfrm>
          <a:off x="571500" y="2233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{68A075BC-29DA-4406-AEC8-262E3A5B4592}</a:tableStyleId>
              </a:tblPr>
              <a:tblGrid>
                <a:gridCol w="2387200"/>
                <a:gridCol w="2370975"/>
                <a:gridCol w="1887150"/>
                <a:gridCol w="2225875"/>
                <a:gridCol w="2177800"/>
              </a:tblGrid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Setosa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Versicolor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Virginica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0" name="Google Shape;230;p22"/>
          <p:cNvSpPr/>
          <p:nvPr/>
        </p:nvSpPr>
        <p:spPr>
          <a:xfrm>
            <a:off x="571500" y="2895600"/>
            <a:ext cx="23872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2958703" y="2895600"/>
            <a:ext cx="237098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329683" y="2895600"/>
            <a:ext cx="18871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7216824" y="2895600"/>
            <a:ext cx="22258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9442698" y="2895600"/>
            <a:ext cx="21778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71500" y="3571875"/>
            <a:ext cx="23872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2958703" y="3571875"/>
            <a:ext cx="237098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329683" y="3571875"/>
            <a:ext cx="18871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7216824" y="3571875"/>
            <a:ext cx="22258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9442698" y="3571875"/>
            <a:ext cx="21778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571500" y="4248150"/>
            <a:ext cx="23872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2958703" y="4248150"/>
            <a:ext cx="237098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329683" y="4248150"/>
            <a:ext cx="18871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7216824" y="4248150"/>
            <a:ext cx="22258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9442698" y="4248150"/>
            <a:ext cx="21778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571500" y="4924425"/>
            <a:ext cx="23872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2958703" y="4924425"/>
            <a:ext cx="237098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329683" y="4924425"/>
            <a:ext cx="18871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7216824" y="4924425"/>
            <a:ext cx="22258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9442698" y="4924425"/>
            <a:ext cx="21778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71500" y="5600700"/>
            <a:ext cx="23872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2958703" y="5600700"/>
            <a:ext cx="425812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7216824" y="5600700"/>
            <a:ext cx="22258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9442698" y="5600700"/>
            <a:ext cx="21778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Classification Report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71500" y="571500"/>
            <a:ext cx="57150" cy="6096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29050"/>
            <a:ext cx="45720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952500" y="762000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Error Matrix</a:t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762000" y="762000"/>
            <a:ext cx="57150" cy="6096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4" name="Google Shape;26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762000" y="1752600"/>
            <a:ext cx="4800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Confusion Analysis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762000" y="2495550"/>
            <a:ext cx="4572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matrix confirms near-perfect classification, with only a single instance of confusion between Virginica and Versicolor.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762000" y="421957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F1-Weighted Average: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0.98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762000" y="469582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Macro Average: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0.98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295275" y="2181225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107C4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 &amp; Questions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571500" y="359092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The Random Forest model effectively mastered Iris species identification with 98% accuracy.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571500" y="4467225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Documentation Project completed in VS Code</a:t>
            </a:r>
            <a:endParaRPr/>
          </a:p>
        </p:txBody>
      </p:sp>
      <p:pic>
        <p:nvPicPr>
          <p:cNvPr descr="image.png" id="277" name="Google Shape;2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1962" y="4486275"/>
            <a:ext cx="1905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